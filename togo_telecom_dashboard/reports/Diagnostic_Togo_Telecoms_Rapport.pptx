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7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828800"/>
            <a:ext cx="10058400" cy="914400"/>
          </a:xfrm>
          <a:prstGeom prst="rect">
            <a:avLst/>
          </a:prstGeom>
          <a:noFill/>
        </p:spPr>
        <p:txBody>
          <a:bodyPr wrap="square">
            <a:spAutoFit/>
          </a:bodyPr>
          <a:lstStyle/>
          <a:p>
            <a:pPr algn="l">
              <a:spcAft>
                <a:spcPts val="600"/>
              </a:spcAft>
            </a:pPr>
            <a:r>
              <a:rPr sz="4000" b="1" i="0" dirty="0">
                <a:solidFill>
                  <a:srgbClr val="FFFFFF"/>
                </a:solidFill>
                <a:latin typeface="Calibri"/>
              </a:rPr>
              <a:t>Zones sous-</a:t>
            </a:r>
            <a:r>
              <a:rPr sz="4000" b="1" i="0" dirty="0" err="1">
                <a:solidFill>
                  <a:srgbClr val="FFFFFF"/>
                </a:solidFill>
                <a:latin typeface="Calibri"/>
              </a:rPr>
              <a:t>desservies</a:t>
            </a:r>
            <a:r>
              <a:rPr sz="4000" b="1" i="0" dirty="0">
                <a:solidFill>
                  <a:srgbClr val="FFFFFF"/>
                </a:solidFill>
                <a:latin typeface="Calibri"/>
              </a:rPr>
              <a:t> et inclusion </a:t>
            </a:r>
            <a:r>
              <a:rPr sz="4000" b="1" i="0" dirty="0" err="1">
                <a:solidFill>
                  <a:srgbClr val="FFFFFF"/>
                </a:solidFill>
                <a:latin typeface="Calibri"/>
              </a:rPr>
              <a:t>numérique</a:t>
            </a:r>
            <a:r>
              <a:rPr sz="4000" b="1" i="0" dirty="0">
                <a:solidFill>
                  <a:srgbClr val="FFFFFF"/>
                </a:solidFill>
                <a:latin typeface="Calibri"/>
              </a:rPr>
              <a:t> au Togo</a:t>
            </a:r>
          </a:p>
        </p:txBody>
      </p:sp>
      <p:sp>
        <p:nvSpPr>
          <p:cNvPr id="5" name="TextBox 4"/>
          <p:cNvSpPr txBox="1"/>
          <p:nvPr/>
        </p:nvSpPr>
        <p:spPr>
          <a:xfrm>
            <a:off x="1654769" y="3067813"/>
            <a:ext cx="9601200" cy="1280160"/>
          </a:xfrm>
          <a:prstGeom prst="rect">
            <a:avLst/>
          </a:prstGeom>
          <a:noFill/>
        </p:spPr>
        <p:txBody>
          <a:bodyPr wrap="square">
            <a:spAutoFit/>
          </a:bodyPr>
          <a:lstStyle/>
          <a:p>
            <a:pPr algn="l">
              <a:spcAft>
                <a:spcPts val="600"/>
              </a:spcAft>
            </a:pPr>
            <a:r>
              <a:rPr sz="1800" b="0" i="0" dirty="0">
                <a:solidFill>
                  <a:srgbClr val="E8F1FA"/>
                </a:solidFill>
                <a:latin typeface="Calibri"/>
              </a:rPr>
              <a:t>Diagnostic </a:t>
            </a:r>
            <a:r>
              <a:rPr sz="1800" b="0" i="0" dirty="0" err="1">
                <a:solidFill>
                  <a:srgbClr val="E8F1FA"/>
                </a:solidFill>
                <a:latin typeface="Calibri"/>
              </a:rPr>
              <a:t>cartographique</a:t>
            </a:r>
            <a:r>
              <a:rPr sz="1800" b="0" i="0" dirty="0">
                <a:solidFill>
                  <a:srgbClr val="E8F1FA"/>
                </a:solidFill>
                <a:latin typeface="Calibri"/>
              </a:rPr>
              <a:t> des infrastructures </a:t>
            </a:r>
            <a:r>
              <a:rPr sz="1800" b="0" i="0" dirty="0" err="1">
                <a:solidFill>
                  <a:srgbClr val="E8F1FA"/>
                </a:solidFill>
                <a:latin typeface="Calibri"/>
              </a:rPr>
              <a:t>télécoms</a:t>
            </a:r>
            <a:r>
              <a:rPr sz="1800" b="0" i="0" dirty="0">
                <a:solidFill>
                  <a:srgbClr val="E8F1FA"/>
                </a:solidFill>
                <a:latin typeface="Calibri"/>
              </a:rPr>
              <a:t>, de la couverture mobile money et de la </a:t>
            </a:r>
            <a:r>
              <a:rPr sz="1800" b="0" i="0" dirty="0" err="1">
                <a:solidFill>
                  <a:srgbClr val="E8F1FA"/>
                </a:solidFill>
                <a:latin typeface="Calibri"/>
              </a:rPr>
              <a:t>priorisation</a:t>
            </a:r>
            <a:r>
              <a:rPr sz="1800" b="0" i="0" dirty="0">
                <a:solidFill>
                  <a:srgbClr val="E8F1FA"/>
                </a:solidFill>
                <a:latin typeface="Calibri"/>
              </a:rPr>
              <a:t> de </a:t>
            </a:r>
            <a:r>
              <a:rPr sz="1800" b="0" i="0" dirty="0" err="1">
                <a:solidFill>
                  <a:srgbClr val="E8F1FA"/>
                </a:solidFill>
                <a:latin typeface="Calibri"/>
              </a:rPr>
              <a:t>l'extension</a:t>
            </a:r>
            <a:r>
              <a:rPr sz="1800" b="0" i="0" dirty="0">
                <a:solidFill>
                  <a:srgbClr val="E8F1FA"/>
                </a:solidFill>
                <a:latin typeface="Calibri"/>
              </a:rPr>
              <a:t> de la </a:t>
            </a:r>
            <a:r>
              <a:rPr sz="1800" b="0" i="0" dirty="0" err="1">
                <a:solidFill>
                  <a:srgbClr val="E8F1FA"/>
                </a:solidFill>
                <a:latin typeface="Calibri"/>
              </a:rPr>
              <a:t>connectivité</a:t>
            </a:r>
            <a:r>
              <a:rPr sz="1800" b="0" i="0" dirty="0">
                <a:solidFill>
                  <a:srgbClr val="E8F1FA"/>
                </a:solidFill>
                <a:latin typeface="Calibri"/>
              </a:rPr>
              <a:t>.</a:t>
            </a:r>
          </a:p>
        </p:txBody>
      </p:sp>
      <p:sp>
        <p:nvSpPr>
          <p:cNvPr id="6" name="Rectangle 5"/>
          <p:cNvSpPr/>
          <p:nvPr/>
        </p:nvSpPr>
        <p:spPr>
          <a:xfrm>
            <a:off x="1005840" y="3977639"/>
            <a:ext cx="2377440" cy="41148"/>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4343400"/>
            <a:ext cx="9144000" cy="914400"/>
          </a:xfrm>
          <a:prstGeom prst="rect">
            <a:avLst/>
          </a:prstGeom>
          <a:noFill/>
        </p:spPr>
        <p:txBody>
          <a:bodyPr wrap="square">
            <a:spAutoFit/>
          </a:bodyPr>
          <a:lstStyle/>
          <a:p>
            <a:pPr algn="l">
              <a:spcAft>
                <a:spcPts val="600"/>
              </a:spcAft>
            </a:pPr>
            <a:r>
              <a:rPr sz="1300" b="0" i="0">
                <a:solidFill>
                  <a:srgbClr val="B9DCF3"/>
                </a:solidFill>
                <a:latin typeface="Calibri"/>
              </a:rPr>
              <a:t>373 cantons · 39 préfectures · 8,1 M d'habitants (RGPH-5, 2022) · 19 788 agents mobile money</a:t>
            </a:r>
          </a:p>
        </p:txBody>
      </p:sp>
      <p:sp>
        <p:nvSpPr>
          <p:cNvPr id="8" name="TextBox 7"/>
          <p:cNvSpPr txBox="1"/>
          <p:nvPr/>
        </p:nvSpPr>
        <p:spPr>
          <a:xfrm>
            <a:off x="1005840" y="5760720"/>
            <a:ext cx="10058400" cy="457200"/>
          </a:xfrm>
          <a:prstGeom prst="rect">
            <a:avLst/>
          </a:prstGeom>
          <a:noFill/>
        </p:spPr>
        <p:txBody>
          <a:bodyPr wrap="square">
            <a:spAutoFit/>
          </a:bodyPr>
          <a:lstStyle/>
          <a:p>
            <a:pPr algn="l">
              <a:spcAft>
                <a:spcPts val="600"/>
              </a:spcAft>
            </a:pPr>
            <a:r>
              <a:rPr sz="1200" b="0" i="0">
                <a:solidFill>
                  <a:srgbClr val="9FC9EC"/>
                </a:solidFill>
                <a:latin typeface="Calibri"/>
              </a:rPr>
              <a:t>Rapport de synthèse — challenge data · Septembre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57200"/>
            <a:ext cx="128016" cy="502920"/>
          </a:xfrm>
          <a:prstGeom prst="rect">
            <a:avLst/>
          </a:prstGeom>
          <a:solidFill>
            <a:srgbClr val="007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57200"/>
            <a:ext cx="10972800" cy="640080"/>
          </a:xfrm>
          <a:prstGeom prst="rect">
            <a:avLst/>
          </a:prstGeom>
          <a:noFill/>
        </p:spPr>
        <p:txBody>
          <a:bodyPr wrap="square">
            <a:spAutoFit/>
          </a:bodyPr>
          <a:lstStyle/>
          <a:p>
            <a:pPr algn="l">
              <a:spcAft>
                <a:spcPts val="600"/>
              </a:spcAft>
            </a:pPr>
            <a:r>
              <a:rPr sz="2800" b="1" i="0">
                <a:solidFill>
                  <a:srgbClr val="1A1A2E"/>
                </a:solidFill>
                <a:latin typeface="Calibri"/>
              </a:rPr>
              <a:t>Contexte, données et méthode</a:t>
            </a:r>
          </a:p>
        </p:txBody>
      </p:sp>
      <p:sp>
        <p:nvSpPr>
          <p:cNvPr id="4" name="TextBox 3"/>
          <p:cNvSpPr txBox="1"/>
          <p:nvPr/>
        </p:nvSpPr>
        <p:spPr>
          <a:xfrm>
            <a:off x="777240" y="1325880"/>
            <a:ext cx="9692640" cy="274320"/>
          </a:xfrm>
          <a:prstGeom prst="rect">
            <a:avLst/>
          </a:prstGeom>
          <a:noFill/>
        </p:spPr>
        <p:txBody>
          <a:bodyPr wrap="square">
            <a:spAutoFit/>
          </a:bodyPr>
          <a:lstStyle/>
          <a:p>
            <a:pPr algn="l">
              <a:spcAft>
                <a:spcPts val="600"/>
              </a:spcAft>
            </a:pPr>
            <a:r>
              <a:rPr sz="1400" b="1" i="0">
                <a:solidFill>
                  <a:srgbClr val="0072BC"/>
                </a:solidFill>
                <a:latin typeface="Calibri"/>
              </a:rPr>
              <a:t>Contexte</a:t>
            </a:r>
          </a:p>
        </p:txBody>
      </p:sp>
      <p:sp>
        <p:nvSpPr>
          <p:cNvPr id="5" name="TextBox 4"/>
          <p:cNvSpPr txBox="1"/>
          <p:nvPr/>
        </p:nvSpPr>
        <p:spPr>
          <a:xfrm>
            <a:off x="777240" y="1572768"/>
            <a:ext cx="9692640" cy="685800"/>
          </a:xfrm>
          <a:prstGeom prst="rect">
            <a:avLst/>
          </a:prstGeom>
          <a:noFill/>
        </p:spPr>
        <p:txBody>
          <a:bodyPr wrap="square">
            <a:spAutoFit/>
          </a:bodyPr>
          <a:lstStyle/>
          <a:p>
            <a:pPr algn="l">
              <a:spcAft>
                <a:spcPts val="600"/>
              </a:spcAft>
            </a:pPr>
            <a:r>
              <a:rPr sz="1250" b="0" i="0">
                <a:solidFill>
                  <a:srgbClr val="1A1A2E"/>
                </a:solidFill>
                <a:latin typeface="Calibri"/>
              </a:rPr>
              <a:t>Les 8,1 M d'habitants du Togo reposent sur 373 cantons pour accéder aux services numériques. L'infrastructure physique (agences opérateurs, agents mobile money, datacenters) est très concentrée : la question est de savoir qui reste à l'écart.</a:t>
            </a:r>
          </a:p>
        </p:txBody>
      </p:sp>
      <p:sp>
        <p:nvSpPr>
          <p:cNvPr id="6" name="TextBox 5"/>
          <p:cNvSpPr txBox="1"/>
          <p:nvPr/>
        </p:nvSpPr>
        <p:spPr>
          <a:xfrm>
            <a:off x="777240" y="2194560"/>
            <a:ext cx="9692640" cy="274320"/>
          </a:xfrm>
          <a:prstGeom prst="rect">
            <a:avLst/>
          </a:prstGeom>
          <a:noFill/>
        </p:spPr>
        <p:txBody>
          <a:bodyPr wrap="square">
            <a:spAutoFit/>
          </a:bodyPr>
          <a:lstStyle/>
          <a:p>
            <a:pPr algn="l">
              <a:spcAft>
                <a:spcPts val="600"/>
              </a:spcAft>
            </a:pPr>
            <a:r>
              <a:rPr sz="1400" b="1" i="0">
                <a:solidFill>
                  <a:srgbClr val="0072BC"/>
                </a:solidFill>
                <a:latin typeface="Calibri"/>
              </a:rPr>
              <a:t>Données</a:t>
            </a:r>
          </a:p>
        </p:txBody>
      </p:sp>
      <p:sp>
        <p:nvSpPr>
          <p:cNvPr id="7" name="TextBox 6"/>
          <p:cNvSpPr txBox="1"/>
          <p:nvPr/>
        </p:nvSpPr>
        <p:spPr>
          <a:xfrm>
            <a:off x="777240" y="2441448"/>
            <a:ext cx="9692640" cy="685800"/>
          </a:xfrm>
          <a:prstGeom prst="rect">
            <a:avLst/>
          </a:prstGeom>
          <a:noFill/>
        </p:spPr>
        <p:txBody>
          <a:bodyPr wrap="square">
            <a:spAutoFit/>
          </a:bodyPr>
          <a:lstStyle/>
          <a:p>
            <a:pPr algn="l">
              <a:spcAft>
                <a:spcPts val="600"/>
              </a:spcAft>
            </a:pPr>
            <a:r>
              <a:rPr sz="1250" b="0" i="0">
                <a:solidFill>
                  <a:srgbClr val="1A1A2E"/>
                </a:solidFill>
                <a:latin typeface="Calibri"/>
              </a:rPr>
              <a:t>90 agences Togocom/Moov · 19 788 agents mobile money · 3 datacenters · population par préfecture (INSEED, RGPH-5) · limites administratives geoBoundaries (37 polygones).</a:t>
            </a:r>
          </a:p>
        </p:txBody>
      </p:sp>
      <p:sp>
        <p:nvSpPr>
          <p:cNvPr id="8" name="TextBox 7"/>
          <p:cNvSpPr txBox="1"/>
          <p:nvPr/>
        </p:nvSpPr>
        <p:spPr>
          <a:xfrm>
            <a:off x="777240" y="3063240"/>
            <a:ext cx="9692640" cy="274320"/>
          </a:xfrm>
          <a:prstGeom prst="rect">
            <a:avLst/>
          </a:prstGeom>
          <a:noFill/>
        </p:spPr>
        <p:txBody>
          <a:bodyPr wrap="square">
            <a:spAutoFit/>
          </a:bodyPr>
          <a:lstStyle/>
          <a:p>
            <a:pPr algn="l">
              <a:spcAft>
                <a:spcPts val="600"/>
              </a:spcAft>
            </a:pPr>
            <a:r>
              <a:rPr sz="1400" b="1" i="0">
                <a:solidFill>
                  <a:srgbClr val="0072BC"/>
                </a:solidFill>
                <a:latin typeface="Calibri"/>
              </a:rPr>
              <a:t>Méthode — zones blanches</a:t>
            </a:r>
          </a:p>
        </p:txBody>
      </p:sp>
      <p:sp>
        <p:nvSpPr>
          <p:cNvPr id="9" name="TextBox 8"/>
          <p:cNvSpPr txBox="1"/>
          <p:nvPr/>
        </p:nvSpPr>
        <p:spPr>
          <a:xfrm>
            <a:off x="777240" y="3310128"/>
            <a:ext cx="9692640" cy="685800"/>
          </a:xfrm>
          <a:prstGeom prst="rect">
            <a:avLst/>
          </a:prstGeom>
          <a:noFill/>
        </p:spPr>
        <p:txBody>
          <a:bodyPr wrap="square">
            <a:spAutoFit/>
          </a:bodyPr>
          <a:lstStyle/>
          <a:p>
            <a:pPr algn="l">
              <a:spcAft>
                <a:spcPts val="600"/>
              </a:spcAft>
            </a:pPr>
            <a:r>
              <a:rPr sz="1250" b="0" i="0">
                <a:solidFill>
                  <a:srgbClr val="1A1A2E"/>
                </a:solidFill>
                <a:latin typeface="Calibri"/>
              </a:rPr>
              <a:t>Aucune couverture 2G/3G/4G officielle en open data : nous utilisons un proxy infrastructure (canton sans agence opérateur + faible densité d'agents mobile money). La population étant disponible au niveau préfecture, les ratios « par habitant » sont calculés à ce niveau.</a:t>
            </a:r>
          </a:p>
        </p:txBody>
      </p:sp>
      <p:sp>
        <p:nvSpPr>
          <p:cNvPr id="10" name="TextBox 9"/>
          <p:cNvSpPr txBox="1"/>
          <p:nvPr/>
        </p:nvSpPr>
        <p:spPr>
          <a:xfrm>
            <a:off x="777240" y="3931920"/>
            <a:ext cx="9692640" cy="274320"/>
          </a:xfrm>
          <a:prstGeom prst="rect">
            <a:avLst/>
          </a:prstGeom>
          <a:noFill/>
        </p:spPr>
        <p:txBody>
          <a:bodyPr wrap="square">
            <a:spAutoFit/>
          </a:bodyPr>
          <a:lstStyle/>
          <a:p>
            <a:pPr algn="l">
              <a:spcAft>
                <a:spcPts val="600"/>
              </a:spcAft>
            </a:pPr>
            <a:r>
              <a:rPr sz="1400" b="1" i="0">
                <a:solidFill>
                  <a:srgbClr val="0072BC"/>
                </a:solidFill>
                <a:latin typeface="Calibri"/>
              </a:rPr>
              <a:t>Score de priorité</a:t>
            </a:r>
          </a:p>
        </p:txBody>
      </p:sp>
      <p:sp>
        <p:nvSpPr>
          <p:cNvPr id="11" name="TextBox 10"/>
          <p:cNvSpPr txBox="1"/>
          <p:nvPr/>
        </p:nvSpPr>
        <p:spPr>
          <a:xfrm>
            <a:off x="777240" y="4178808"/>
            <a:ext cx="9692640" cy="685800"/>
          </a:xfrm>
          <a:prstGeom prst="rect">
            <a:avLst/>
          </a:prstGeom>
          <a:noFill/>
        </p:spPr>
        <p:txBody>
          <a:bodyPr wrap="square">
            <a:spAutoFit/>
          </a:bodyPr>
          <a:lstStyle/>
          <a:p>
            <a:pPr algn="l">
              <a:spcAft>
                <a:spcPts val="600"/>
              </a:spcAft>
            </a:pPr>
            <a:r>
              <a:rPr sz="1250" b="0" i="0">
                <a:solidFill>
                  <a:srgbClr val="1A1A2E"/>
                </a:solidFill>
                <a:latin typeface="Calibri"/>
              </a:rPr>
              <a:t>Population pondérée × carence d'agences × nombre de cantons déjà repérés comme sous-desservis — un score transparent et reproductible, calculé sur la page Recommandations.</a:t>
            </a:r>
          </a:p>
        </p:txBody>
      </p:sp>
      <p:sp>
        <p:nvSpPr>
          <p:cNvPr id="12" name="TextBox 11"/>
          <p:cNvSpPr txBox="1"/>
          <p:nvPr/>
        </p:nvSpPr>
        <p:spPr>
          <a:xfrm>
            <a:off x="777240" y="4800600"/>
            <a:ext cx="9692640" cy="274320"/>
          </a:xfrm>
          <a:prstGeom prst="rect">
            <a:avLst/>
          </a:prstGeom>
          <a:noFill/>
        </p:spPr>
        <p:txBody>
          <a:bodyPr wrap="square">
            <a:spAutoFit/>
          </a:bodyPr>
          <a:lstStyle/>
          <a:p>
            <a:pPr algn="l">
              <a:spcAft>
                <a:spcPts val="600"/>
              </a:spcAft>
            </a:pPr>
            <a:r>
              <a:rPr sz="1400" b="1" i="0">
                <a:solidFill>
                  <a:srgbClr val="0072BC"/>
                </a:solidFill>
                <a:latin typeface="Calibri"/>
              </a:rPr>
              <a:t>Limites assumées</a:t>
            </a:r>
          </a:p>
        </p:txBody>
      </p:sp>
      <p:sp>
        <p:nvSpPr>
          <p:cNvPr id="13" name="TextBox 12"/>
          <p:cNvSpPr txBox="1"/>
          <p:nvPr/>
        </p:nvSpPr>
        <p:spPr>
          <a:xfrm>
            <a:off x="777240" y="5047488"/>
            <a:ext cx="9692640" cy="685800"/>
          </a:xfrm>
          <a:prstGeom prst="rect">
            <a:avLst/>
          </a:prstGeom>
          <a:noFill/>
        </p:spPr>
        <p:txBody>
          <a:bodyPr wrap="square">
            <a:spAutoFit/>
          </a:bodyPr>
          <a:lstStyle/>
          <a:p>
            <a:pPr algn="l">
              <a:spcAft>
                <a:spcPts val="600"/>
              </a:spcAft>
            </a:pPr>
            <a:r>
              <a:rPr sz="1250" b="0" i="0">
                <a:solidFill>
                  <a:srgbClr val="1A1A2E"/>
                </a:solidFill>
                <a:latin typeface="Calibri"/>
              </a:rPr>
              <a:t>Fichier CANAL+ vide · regroupement des préfectures récemment scindées (Agoè-Nyivé, Kpendjal-Ouest, Oti-Sud) faute de polygones séparés · « zone blanche » = proxy, pas une mesure radio.</a:t>
            </a:r>
          </a:p>
        </p:txBody>
      </p:sp>
      <p:sp>
        <p:nvSpPr>
          <p:cNvPr id="14" name="Rounded Rectangle 13"/>
          <p:cNvSpPr/>
          <p:nvPr/>
        </p:nvSpPr>
        <p:spPr>
          <a:xfrm>
            <a:off x="10881360" y="1325880"/>
            <a:ext cx="822960" cy="822960"/>
          </a:xfrm>
          <a:prstGeom prst="round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881360" y="1600200"/>
            <a:ext cx="822960" cy="274320"/>
          </a:xfrm>
          <a:prstGeom prst="rect">
            <a:avLst/>
          </a:prstGeom>
          <a:noFill/>
        </p:spPr>
        <p:txBody>
          <a:bodyPr wrap="square">
            <a:spAutoFit/>
          </a:bodyPr>
          <a:lstStyle/>
          <a:p>
            <a:pPr algn="ctr">
              <a:spcAft>
                <a:spcPts val="600"/>
              </a:spcAft>
            </a:pPr>
            <a:r>
              <a:rPr sz="2000" b="1" i="0">
                <a:solidFill>
                  <a:srgbClr val="FFFFFF"/>
                </a:solidFill>
                <a:latin typeface="Calibri"/>
              </a:rPr>
              <a:t>373</a:t>
            </a:r>
          </a:p>
        </p:txBody>
      </p:sp>
      <p:sp>
        <p:nvSpPr>
          <p:cNvPr id="16" name="TextBox 15"/>
          <p:cNvSpPr txBox="1"/>
          <p:nvPr/>
        </p:nvSpPr>
        <p:spPr>
          <a:xfrm>
            <a:off x="10881360" y="1874519"/>
            <a:ext cx="822960" cy="274320"/>
          </a:xfrm>
          <a:prstGeom prst="rect">
            <a:avLst/>
          </a:prstGeom>
          <a:noFill/>
        </p:spPr>
        <p:txBody>
          <a:bodyPr wrap="square">
            <a:spAutoFit/>
          </a:bodyPr>
          <a:lstStyle/>
          <a:p>
            <a:pPr algn="ctr">
              <a:spcAft>
                <a:spcPts val="600"/>
              </a:spcAft>
            </a:pPr>
            <a:r>
              <a:rPr sz="1000" b="0" i="0">
                <a:solidFill>
                  <a:srgbClr val="FFFFFF"/>
                </a:solidFill>
                <a:latin typeface="Calibri"/>
              </a:rPr>
              <a:t>cantons</a:t>
            </a:r>
          </a:p>
        </p:txBody>
      </p:sp>
      <p:sp>
        <p:nvSpPr>
          <p:cNvPr id="17" name="Rectangle 16"/>
          <p:cNvSpPr/>
          <p:nvPr/>
        </p:nvSpPr>
        <p:spPr>
          <a:xfrm>
            <a:off x="502920" y="6473952"/>
            <a:ext cx="11183112" cy="12801"/>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6528816"/>
            <a:ext cx="8229600" cy="274320"/>
          </a:xfrm>
          <a:prstGeom prst="rect">
            <a:avLst/>
          </a:prstGeom>
          <a:noFill/>
        </p:spPr>
        <p:txBody>
          <a:bodyPr wrap="square">
            <a:spAutoFit/>
          </a:bodyPr>
          <a:lstStyle/>
          <a:p>
            <a:pPr algn="l">
              <a:spcAft>
                <a:spcPts val="600"/>
              </a:spcAft>
            </a:pPr>
            <a:r>
              <a:rPr sz="900" b="0" i="0">
                <a:solidFill>
                  <a:srgbClr val="5A6A7A"/>
                </a:solidFill>
                <a:latin typeface="Calibri"/>
              </a:rPr>
              <a:t>Togo Télécoms &amp; Inclusion Numérique — Diagnostic et recommandations</a:t>
            </a:r>
          </a:p>
        </p:txBody>
      </p:sp>
      <p:sp>
        <p:nvSpPr>
          <p:cNvPr id="19" name="TextBox 18"/>
          <p:cNvSpPr txBox="1"/>
          <p:nvPr/>
        </p:nvSpPr>
        <p:spPr>
          <a:xfrm>
            <a:off x="11155680" y="6528816"/>
            <a:ext cx="548640" cy="274320"/>
          </a:xfrm>
          <a:prstGeom prst="rect">
            <a:avLst/>
          </a:prstGeom>
          <a:noFill/>
        </p:spPr>
        <p:txBody>
          <a:bodyPr wrap="square">
            <a:spAutoFit/>
          </a:bodyPr>
          <a:lstStyle/>
          <a:p>
            <a:pPr algn="r">
              <a:spcAft>
                <a:spcPts val="600"/>
              </a:spcAft>
            </a:pPr>
            <a:r>
              <a:rPr sz="1000" b="0" i="0">
                <a:solidFill>
                  <a:srgbClr val="5A6A7A"/>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57200"/>
            <a:ext cx="11183112" cy="548640"/>
          </a:xfrm>
          <a:prstGeom prst="rect">
            <a:avLst/>
          </a:prstGeom>
          <a:solidFill>
            <a:srgbClr val="007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03504"/>
            <a:ext cx="10515600" cy="457200"/>
          </a:xfrm>
          <a:prstGeom prst="rect">
            <a:avLst/>
          </a:prstGeom>
          <a:noFill/>
        </p:spPr>
        <p:txBody>
          <a:bodyPr wrap="square">
            <a:spAutoFit/>
          </a:bodyPr>
          <a:lstStyle/>
          <a:p>
            <a:pPr algn="l">
              <a:spcAft>
                <a:spcPts val="600"/>
              </a:spcAft>
            </a:pPr>
            <a:r>
              <a:rPr sz="2600" b="1" i="0">
                <a:solidFill>
                  <a:srgbClr val="FFFFFF"/>
                </a:solidFill>
                <a:latin typeface="Calibri"/>
              </a:rPr>
              <a:t>Vue d'ensemble nationale</a:t>
            </a:r>
          </a:p>
        </p:txBody>
      </p:sp>
      <p:pic>
        <p:nvPicPr>
          <p:cNvPr id="4" name="Picture 3" descr="slide1_accueil.png"/>
          <p:cNvPicPr>
            <a:picLocks noChangeAspect="1"/>
          </p:cNvPicPr>
          <p:nvPr/>
        </p:nvPicPr>
        <p:blipFill>
          <a:blip r:embed="rId2"/>
          <a:stretch>
            <a:fillRect/>
          </a:stretch>
        </p:blipFill>
        <p:spPr>
          <a:xfrm>
            <a:off x="914400" y="1102767"/>
            <a:ext cx="9244584" cy="5390347"/>
          </a:xfrm>
          <a:prstGeom prst="rect">
            <a:avLst/>
          </a:prstGeom>
        </p:spPr>
      </p:pic>
      <p:sp>
        <p:nvSpPr>
          <p:cNvPr id="5" name="TextBox 4"/>
          <p:cNvSpPr txBox="1"/>
          <p:nvPr/>
        </p:nvSpPr>
        <p:spPr>
          <a:xfrm>
            <a:off x="640080" y="5989320"/>
            <a:ext cx="10881360" cy="457200"/>
          </a:xfrm>
          <a:prstGeom prst="rect">
            <a:avLst/>
          </a:prstGeom>
          <a:noFill/>
        </p:spPr>
        <p:txBody>
          <a:bodyPr wrap="square">
            <a:spAutoFit/>
          </a:bodyPr>
          <a:lstStyle/>
          <a:p>
            <a:pPr algn="l">
              <a:spcAft>
                <a:spcPts val="600"/>
              </a:spcAft>
            </a:pPr>
            <a:r>
              <a:rPr sz="1200" b="0" i="1">
                <a:solidFill>
                  <a:srgbClr val="5A6A7A"/>
                </a:solidFill>
                <a:latin typeface="Calibri"/>
              </a:rPr>
              <a:t>Chiffres-clés nationaux et carte des agences opérateurs / datacenters — le détail filtrable est en page Cartographie.</a:t>
            </a:r>
          </a:p>
        </p:txBody>
      </p:sp>
      <p:sp>
        <p:nvSpPr>
          <p:cNvPr id="6" name="Rectangle 5"/>
          <p:cNvSpPr/>
          <p:nvPr/>
        </p:nvSpPr>
        <p:spPr>
          <a:xfrm>
            <a:off x="502920" y="6473952"/>
            <a:ext cx="11183112" cy="12801"/>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528816"/>
            <a:ext cx="8229600" cy="274320"/>
          </a:xfrm>
          <a:prstGeom prst="rect">
            <a:avLst/>
          </a:prstGeom>
          <a:noFill/>
        </p:spPr>
        <p:txBody>
          <a:bodyPr wrap="square">
            <a:spAutoFit/>
          </a:bodyPr>
          <a:lstStyle/>
          <a:p>
            <a:pPr algn="l">
              <a:spcAft>
                <a:spcPts val="600"/>
              </a:spcAft>
            </a:pPr>
            <a:r>
              <a:rPr sz="900" b="0" i="0">
                <a:solidFill>
                  <a:srgbClr val="5A6A7A"/>
                </a:solidFill>
                <a:latin typeface="Calibri"/>
              </a:rPr>
              <a:t>Togo Télécoms &amp; Inclusion Numérique — Diagnostic et recommandations</a:t>
            </a:r>
          </a:p>
        </p:txBody>
      </p:sp>
      <p:sp>
        <p:nvSpPr>
          <p:cNvPr id="8" name="TextBox 7"/>
          <p:cNvSpPr txBox="1"/>
          <p:nvPr/>
        </p:nvSpPr>
        <p:spPr>
          <a:xfrm>
            <a:off x="11155680" y="6528816"/>
            <a:ext cx="548640" cy="274320"/>
          </a:xfrm>
          <a:prstGeom prst="rect">
            <a:avLst/>
          </a:prstGeom>
          <a:noFill/>
        </p:spPr>
        <p:txBody>
          <a:bodyPr wrap="square">
            <a:spAutoFit/>
          </a:bodyPr>
          <a:lstStyle/>
          <a:p>
            <a:pPr algn="r">
              <a:spcAft>
                <a:spcPts val="600"/>
              </a:spcAft>
            </a:pPr>
            <a:r>
              <a:rPr sz="1000" b="0" i="0">
                <a:solidFill>
                  <a:srgbClr val="5A6A7A"/>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57200"/>
            <a:ext cx="11183112" cy="548640"/>
          </a:xfrm>
          <a:prstGeom prst="rect">
            <a:avLst/>
          </a:prstGeom>
          <a:solidFill>
            <a:srgbClr val="007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03504"/>
            <a:ext cx="10515600" cy="457200"/>
          </a:xfrm>
          <a:prstGeom prst="rect">
            <a:avLst/>
          </a:prstGeom>
          <a:noFill/>
        </p:spPr>
        <p:txBody>
          <a:bodyPr wrap="square">
            <a:spAutoFit/>
          </a:bodyPr>
          <a:lstStyle/>
          <a:p>
            <a:pPr algn="l">
              <a:spcAft>
                <a:spcPts val="600"/>
              </a:spcAft>
            </a:pPr>
            <a:r>
              <a:rPr sz="2600" b="1" i="0">
                <a:solidFill>
                  <a:srgbClr val="FFFFFF"/>
                </a:solidFill>
                <a:latin typeface="Calibri"/>
              </a:rPr>
              <a:t>Cartographie des infrastructures télécoms</a:t>
            </a:r>
          </a:p>
        </p:txBody>
      </p:sp>
      <p:pic>
        <p:nvPicPr>
          <p:cNvPr id="4" name="Picture 3" descr="slide3_carto.png"/>
          <p:cNvPicPr>
            <a:picLocks noChangeAspect="1"/>
          </p:cNvPicPr>
          <p:nvPr/>
        </p:nvPicPr>
        <p:blipFill>
          <a:blip r:embed="rId2"/>
          <a:stretch>
            <a:fillRect/>
          </a:stretch>
        </p:blipFill>
        <p:spPr>
          <a:xfrm>
            <a:off x="1037779" y="1046073"/>
            <a:ext cx="8906321" cy="5811927"/>
          </a:xfrm>
          <a:prstGeom prst="rect">
            <a:avLst/>
          </a:prstGeom>
        </p:spPr>
      </p:pic>
      <p:sp>
        <p:nvSpPr>
          <p:cNvPr id="5" name="TextBox 4"/>
          <p:cNvSpPr txBox="1"/>
          <p:nvPr/>
        </p:nvSpPr>
        <p:spPr>
          <a:xfrm>
            <a:off x="640080" y="5989320"/>
            <a:ext cx="10881360" cy="457200"/>
          </a:xfrm>
          <a:prstGeom prst="rect">
            <a:avLst/>
          </a:prstGeom>
          <a:noFill/>
        </p:spPr>
        <p:txBody>
          <a:bodyPr wrap="square">
            <a:spAutoFit/>
          </a:bodyPr>
          <a:lstStyle/>
          <a:p>
            <a:pPr algn="l">
              <a:spcAft>
                <a:spcPts val="600"/>
              </a:spcAft>
            </a:pPr>
            <a:r>
              <a:rPr sz="1200" b="0" i="1">
                <a:solidFill>
                  <a:srgbClr val="5A6A7A"/>
                </a:solidFill>
                <a:latin typeface="Calibri"/>
              </a:rPr>
              <a:t>Agences Togocom / Moov, datacenters et agents mobile money agrégés par canton — filtres région, préfecture et opérateur.</a:t>
            </a:r>
          </a:p>
        </p:txBody>
      </p:sp>
      <p:sp>
        <p:nvSpPr>
          <p:cNvPr id="6" name="Rectangle 5"/>
          <p:cNvSpPr/>
          <p:nvPr/>
        </p:nvSpPr>
        <p:spPr>
          <a:xfrm>
            <a:off x="502920" y="6473952"/>
            <a:ext cx="11183112" cy="12801"/>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528816"/>
            <a:ext cx="8229600" cy="274320"/>
          </a:xfrm>
          <a:prstGeom prst="rect">
            <a:avLst/>
          </a:prstGeom>
          <a:noFill/>
        </p:spPr>
        <p:txBody>
          <a:bodyPr wrap="square">
            <a:spAutoFit/>
          </a:bodyPr>
          <a:lstStyle/>
          <a:p>
            <a:pPr algn="l">
              <a:spcAft>
                <a:spcPts val="600"/>
              </a:spcAft>
            </a:pPr>
            <a:r>
              <a:rPr sz="900" b="0" i="0">
                <a:solidFill>
                  <a:srgbClr val="5A6A7A"/>
                </a:solidFill>
                <a:latin typeface="Calibri"/>
              </a:rPr>
              <a:t>Togo Télécoms &amp; Inclusion Numérique — Diagnostic et recommandations</a:t>
            </a:r>
          </a:p>
        </p:txBody>
      </p:sp>
      <p:sp>
        <p:nvSpPr>
          <p:cNvPr id="8" name="TextBox 7"/>
          <p:cNvSpPr txBox="1"/>
          <p:nvPr/>
        </p:nvSpPr>
        <p:spPr>
          <a:xfrm>
            <a:off x="11155680" y="6528816"/>
            <a:ext cx="548640" cy="274320"/>
          </a:xfrm>
          <a:prstGeom prst="rect">
            <a:avLst/>
          </a:prstGeom>
          <a:noFill/>
        </p:spPr>
        <p:txBody>
          <a:bodyPr wrap="square">
            <a:spAutoFit/>
          </a:bodyPr>
          <a:lstStyle/>
          <a:p>
            <a:pPr algn="r">
              <a:spcAft>
                <a:spcPts val="600"/>
              </a:spcAft>
            </a:pPr>
            <a:r>
              <a:rPr sz="1000" b="0" i="0">
                <a:solidFill>
                  <a:srgbClr val="5A6A7A"/>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57200"/>
            <a:ext cx="11183112" cy="548640"/>
          </a:xfrm>
          <a:prstGeom prst="rect">
            <a:avLst/>
          </a:prstGeom>
          <a:solidFill>
            <a:srgbClr val="007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03504"/>
            <a:ext cx="10515600" cy="457200"/>
          </a:xfrm>
          <a:prstGeom prst="rect">
            <a:avLst/>
          </a:prstGeom>
          <a:noFill/>
        </p:spPr>
        <p:txBody>
          <a:bodyPr wrap="square">
            <a:spAutoFit/>
          </a:bodyPr>
          <a:lstStyle/>
          <a:p>
            <a:pPr algn="l">
              <a:spcAft>
                <a:spcPts val="600"/>
              </a:spcAft>
            </a:pPr>
            <a:r>
              <a:rPr sz="2600" b="1" i="0">
                <a:solidFill>
                  <a:srgbClr val="FFFFFF"/>
                </a:solidFill>
                <a:latin typeface="Calibri"/>
              </a:rPr>
              <a:t>Adéquation mobile money / population</a:t>
            </a:r>
          </a:p>
        </p:txBody>
      </p:sp>
      <p:pic>
        <p:nvPicPr>
          <p:cNvPr id="4" name="Picture 3" descr="_tmp_top.png"/>
          <p:cNvPicPr>
            <a:picLocks noChangeAspect="1"/>
          </p:cNvPicPr>
          <p:nvPr/>
        </p:nvPicPr>
        <p:blipFill>
          <a:blip r:embed="rId2"/>
          <a:stretch>
            <a:fillRect/>
          </a:stretch>
        </p:blipFill>
        <p:spPr>
          <a:xfrm>
            <a:off x="470916" y="1207008"/>
            <a:ext cx="5623560" cy="4405693"/>
          </a:xfrm>
          <a:prstGeom prst="rect">
            <a:avLst/>
          </a:prstGeom>
        </p:spPr>
      </p:pic>
      <p:pic>
        <p:nvPicPr>
          <p:cNvPr id="5" name="Picture 4" descr="_tmp_bot.png"/>
          <p:cNvPicPr>
            <a:picLocks noChangeAspect="1"/>
          </p:cNvPicPr>
          <p:nvPr/>
        </p:nvPicPr>
        <p:blipFill>
          <a:blip r:embed="rId3"/>
          <a:stretch>
            <a:fillRect/>
          </a:stretch>
        </p:blipFill>
        <p:spPr>
          <a:xfrm>
            <a:off x="6035040" y="1371599"/>
            <a:ext cx="5815584" cy="4524375"/>
          </a:xfrm>
          <a:prstGeom prst="rect">
            <a:avLst/>
          </a:prstGeom>
        </p:spPr>
      </p:pic>
      <p:sp>
        <p:nvSpPr>
          <p:cNvPr id="6" name="TextBox 5"/>
          <p:cNvSpPr txBox="1"/>
          <p:nvPr/>
        </p:nvSpPr>
        <p:spPr>
          <a:xfrm>
            <a:off x="640080" y="5989320"/>
            <a:ext cx="10881360" cy="457200"/>
          </a:xfrm>
          <a:prstGeom prst="rect">
            <a:avLst/>
          </a:prstGeom>
          <a:noFill/>
        </p:spPr>
        <p:txBody>
          <a:bodyPr wrap="square">
            <a:spAutoFit/>
          </a:bodyPr>
          <a:lstStyle/>
          <a:p>
            <a:pPr algn="l">
              <a:spcAft>
                <a:spcPts val="600"/>
              </a:spcAft>
            </a:pPr>
            <a:r>
              <a:rPr sz="1200" b="0" i="1">
                <a:solidFill>
                  <a:srgbClr val="5A6A7A"/>
                </a:solidFill>
                <a:latin typeface="Calibri"/>
              </a:rPr>
              <a:t>Choroplèthe « agents mobile money pour 10 000 hab. », classement des préfectures et nuage de points population vs agents.</a:t>
            </a:r>
          </a:p>
        </p:txBody>
      </p:sp>
      <p:sp>
        <p:nvSpPr>
          <p:cNvPr id="7" name="Rectangle 6"/>
          <p:cNvSpPr/>
          <p:nvPr/>
        </p:nvSpPr>
        <p:spPr>
          <a:xfrm>
            <a:off x="502920" y="6473952"/>
            <a:ext cx="11183112" cy="12801"/>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6528816"/>
            <a:ext cx="8229600" cy="274320"/>
          </a:xfrm>
          <a:prstGeom prst="rect">
            <a:avLst/>
          </a:prstGeom>
          <a:noFill/>
        </p:spPr>
        <p:txBody>
          <a:bodyPr wrap="square">
            <a:spAutoFit/>
          </a:bodyPr>
          <a:lstStyle/>
          <a:p>
            <a:pPr algn="l">
              <a:spcAft>
                <a:spcPts val="600"/>
              </a:spcAft>
            </a:pPr>
            <a:r>
              <a:rPr sz="900" b="0" i="0">
                <a:solidFill>
                  <a:srgbClr val="5A6A7A"/>
                </a:solidFill>
                <a:latin typeface="Calibri"/>
              </a:rPr>
              <a:t>Togo Télécoms &amp; Inclusion Numérique — Diagnostic et recommandations</a:t>
            </a:r>
          </a:p>
        </p:txBody>
      </p:sp>
      <p:sp>
        <p:nvSpPr>
          <p:cNvPr id="9" name="TextBox 8"/>
          <p:cNvSpPr txBox="1"/>
          <p:nvPr/>
        </p:nvSpPr>
        <p:spPr>
          <a:xfrm>
            <a:off x="11155680" y="6528816"/>
            <a:ext cx="548640" cy="274320"/>
          </a:xfrm>
          <a:prstGeom prst="rect">
            <a:avLst/>
          </a:prstGeom>
          <a:noFill/>
        </p:spPr>
        <p:txBody>
          <a:bodyPr wrap="square">
            <a:spAutoFit/>
          </a:bodyPr>
          <a:lstStyle/>
          <a:p>
            <a:pPr algn="r">
              <a:spcAft>
                <a:spcPts val="600"/>
              </a:spcAft>
            </a:pPr>
            <a:r>
              <a:rPr sz="1000" b="0" i="0">
                <a:solidFill>
                  <a:srgbClr val="5A6A7A"/>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_tmp_top.png"/>
          <p:cNvPicPr>
            <a:picLocks noChangeAspect="1"/>
          </p:cNvPicPr>
          <p:nvPr/>
        </p:nvPicPr>
        <p:blipFill>
          <a:blip r:embed="rId2"/>
          <a:stretch>
            <a:fillRect/>
          </a:stretch>
        </p:blipFill>
        <p:spPr>
          <a:xfrm>
            <a:off x="-18605" y="1005841"/>
            <a:ext cx="5436425" cy="5143596"/>
          </a:xfrm>
          <a:prstGeom prst="rect">
            <a:avLst/>
          </a:prstGeom>
        </p:spPr>
      </p:pic>
      <p:pic>
        <p:nvPicPr>
          <p:cNvPr id="5" name="Picture 4" descr="_tmp_bot.png"/>
          <p:cNvPicPr>
            <a:picLocks noChangeAspect="1"/>
          </p:cNvPicPr>
          <p:nvPr/>
        </p:nvPicPr>
        <p:blipFill>
          <a:blip r:embed="rId3"/>
          <a:stretch>
            <a:fillRect/>
          </a:stretch>
        </p:blipFill>
        <p:spPr>
          <a:xfrm>
            <a:off x="5436108" y="850392"/>
            <a:ext cx="6249924" cy="5797296"/>
          </a:xfrm>
          <a:prstGeom prst="rect">
            <a:avLst/>
          </a:prstGeom>
        </p:spPr>
      </p:pic>
      <p:sp>
        <p:nvSpPr>
          <p:cNvPr id="2" name="Rectangle 1"/>
          <p:cNvSpPr/>
          <p:nvPr/>
        </p:nvSpPr>
        <p:spPr>
          <a:xfrm>
            <a:off x="502920" y="457200"/>
            <a:ext cx="11183112" cy="548640"/>
          </a:xfrm>
          <a:prstGeom prst="rect">
            <a:avLst/>
          </a:prstGeom>
          <a:solidFill>
            <a:srgbClr val="007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03504"/>
            <a:ext cx="10515600" cy="457200"/>
          </a:xfrm>
          <a:prstGeom prst="rect">
            <a:avLst/>
          </a:prstGeom>
          <a:noFill/>
        </p:spPr>
        <p:txBody>
          <a:bodyPr wrap="square">
            <a:spAutoFit/>
          </a:bodyPr>
          <a:lstStyle/>
          <a:p>
            <a:pPr algn="l">
              <a:spcAft>
                <a:spcPts val="600"/>
              </a:spcAft>
            </a:pPr>
            <a:r>
              <a:rPr sz="2600" b="1" i="0" dirty="0">
                <a:solidFill>
                  <a:srgbClr val="FFFFFF"/>
                </a:solidFill>
                <a:latin typeface="Calibri"/>
              </a:rPr>
              <a:t>Zones sous-</a:t>
            </a:r>
            <a:r>
              <a:rPr sz="2600" b="1" i="0" dirty="0" err="1">
                <a:solidFill>
                  <a:srgbClr val="FFFFFF"/>
                </a:solidFill>
                <a:latin typeface="Calibri"/>
              </a:rPr>
              <a:t>desservies</a:t>
            </a:r>
            <a:r>
              <a:rPr sz="2600" b="1" i="0" dirty="0">
                <a:solidFill>
                  <a:srgbClr val="FFFFFF"/>
                </a:solidFill>
                <a:latin typeface="Calibri"/>
              </a:rPr>
              <a:t> — proxy infrastructure</a:t>
            </a:r>
          </a:p>
        </p:txBody>
      </p:sp>
      <p:sp>
        <p:nvSpPr>
          <p:cNvPr id="6" name="TextBox 5"/>
          <p:cNvSpPr txBox="1"/>
          <p:nvPr/>
        </p:nvSpPr>
        <p:spPr>
          <a:xfrm>
            <a:off x="640080" y="5989320"/>
            <a:ext cx="10881360" cy="457200"/>
          </a:xfrm>
          <a:prstGeom prst="rect">
            <a:avLst/>
          </a:prstGeom>
          <a:noFill/>
        </p:spPr>
        <p:txBody>
          <a:bodyPr wrap="square">
            <a:spAutoFit/>
          </a:bodyPr>
          <a:lstStyle/>
          <a:p>
            <a:pPr algn="l">
              <a:spcAft>
                <a:spcPts val="600"/>
              </a:spcAft>
            </a:pPr>
            <a:r>
              <a:rPr sz="1200" b="0" i="1">
                <a:solidFill>
                  <a:srgbClr val="5A6A7A"/>
                </a:solidFill>
                <a:latin typeface="Calibri"/>
              </a:rPr>
              <a:t>Cantons par niveau de desserte : zones prioritaires (sans agence ET peu d'agents mobile money) et top 20 par canton.</a:t>
            </a:r>
          </a:p>
        </p:txBody>
      </p:sp>
      <p:sp>
        <p:nvSpPr>
          <p:cNvPr id="7" name="Rectangle 6"/>
          <p:cNvSpPr/>
          <p:nvPr/>
        </p:nvSpPr>
        <p:spPr>
          <a:xfrm>
            <a:off x="502920" y="6473952"/>
            <a:ext cx="11183112" cy="12801"/>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6528816"/>
            <a:ext cx="8229600" cy="274320"/>
          </a:xfrm>
          <a:prstGeom prst="rect">
            <a:avLst/>
          </a:prstGeom>
          <a:noFill/>
        </p:spPr>
        <p:txBody>
          <a:bodyPr wrap="square">
            <a:spAutoFit/>
          </a:bodyPr>
          <a:lstStyle/>
          <a:p>
            <a:pPr algn="l">
              <a:spcAft>
                <a:spcPts val="600"/>
              </a:spcAft>
            </a:pPr>
            <a:r>
              <a:rPr sz="900" b="0" i="0">
                <a:solidFill>
                  <a:srgbClr val="5A6A7A"/>
                </a:solidFill>
                <a:latin typeface="Calibri"/>
              </a:rPr>
              <a:t>Togo Télécoms &amp; Inclusion Numérique — Diagnostic et recommandations</a:t>
            </a:r>
          </a:p>
        </p:txBody>
      </p:sp>
      <p:sp>
        <p:nvSpPr>
          <p:cNvPr id="9" name="TextBox 8"/>
          <p:cNvSpPr txBox="1"/>
          <p:nvPr/>
        </p:nvSpPr>
        <p:spPr>
          <a:xfrm>
            <a:off x="11155680" y="6528816"/>
            <a:ext cx="548640" cy="274320"/>
          </a:xfrm>
          <a:prstGeom prst="rect">
            <a:avLst/>
          </a:prstGeom>
          <a:noFill/>
        </p:spPr>
        <p:txBody>
          <a:bodyPr wrap="square">
            <a:spAutoFit/>
          </a:bodyPr>
          <a:lstStyle/>
          <a:p>
            <a:pPr algn="r">
              <a:spcAft>
                <a:spcPts val="600"/>
              </a:spcAft>
            </a:pPr>
            <a:r>
              <a:rPr sz="1000" b="0" i="0">
                <a:solidFill>
                  <a:srgbClr val="5A6A7A"/>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_tmp_bot.png"/>
          <p:cNvPicPr>
            <a:picLocks noChangeAspect="1"/>
          </p:cNvPicPr>
          <p:nvPr/>
        </p:nvPicPr>
        <p:blipFill>
          <a:blip r:embed="rId2"/>
          <a:stretch>
            <a:fillRect/>
          </a:stretch>
        </p:blipFill>
        <p:spPr>
          <a:xfrm>
            <a:off x="6735871" y="905257"/>
            <a:ext cx="5059889" cy="5952743"/>
          </a:xfrm>
          <a:prstGeom prst="rect">
            <a:avLst/>
          </a:prstGeom>
        </p:spPr>
      </p:pic>
      <p:sp>
        <p:nvSpPr>
          <p:cNvPr id="2" name="Rectangle 1"/>
          <p:cNvSpPr/>
          <p:nvPr/>
        </p:nvSpPr>
        <p:spPr>
          <a:xfrm>
            <a:off x="502920" y="457200"/>
            <a:ext cx="11183112" cy="548640"/>
          </a:xfrm>
          <a:prstGeom prst="rect">
            <a:avLst/>
          </a:prstGeom>
          <a:solidFill>
            <a:srgbClr val="007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603504"/>
            <a:ext cx="10515600" cy="457200"/>
          </a:xfrm>
          <a:prstGeom prst="rect">
            <a:avLst/>
          </a:prstGeom>
          <a:noFill/>
        </p:spPr>
        <p:txBody>
          <a:bodyPr wrap="square">
            <a:spAutoFit/>
          </a:bodyPr>
          <a:lstStyle/>
          <a:p>
            <a:pPr algn="l">
              <a:spcAft>
                <a:spcPts val="600"/>
              </a:spcAft>
            </a:pPr>
            <a:r>
              <a:rPr sz="2600" b="1" i="0">
                <a:solidFill>
                  <a:srgbClr val="FFFFFF"/>
                </a:solidFill>
                <a:latin typeface="Calibri"/>
              </a:rPr>
              <a:t>Recommandations et priorisation</a:t>
            </a:r>
          </a:p>
        </p:txBody>
      </p:sp>
      <p:pic>
        <p:nvPicPr>
          <p:cNvPr id="4" name="Picture 3" descr="_tmp_top.png"/>
          <p:cNvPicPr>
            <a:picLocks noChangeAspect="1"/>
          </p:cNvPicPr>
          <p:nvPr/>
        </p:nvPicPr>
        <p:blipFill>
          <a:blip r:embed="rId3"/>
          <a:stretch>
            <a:fillRect/>
          </a:stretch>
        </p:blipFill>
        <p:spPr>
          <a:xfrm>
            <a:off x="347472" y="1207008"/>
            <a:ext cx="6380152" cy="4497133"/>
          </a:xfrm>
          <a:prstGeom prst="rect">
            <a:avLst/>
          </a:prstGeom>
        </p:spPr>
      </p:pic>
      <p:sp>
        <p:nvSpPr>
          <p:cNvPr id="6" name="TextBox 5"/>
          <p:cNvSpPr txBox="1"/>
          <p:nvPr/>
        </p:nvSpPr>
        <p:spPr>
          <a:xfrm>
            <a:off x="640080" y="5989320"/>
            <a:ext cx="10881360" cy="457200"/>
          </a:xfrm>
          <a:prstGeom prst="rect">
            <a:avLst/>
          </a:prstGeom>
          <a:noFill/>
        </p:spPr>
        <p:txBody>
          <a:bodyPr wrap="square">
            <a:spAutoFit/>
          </a:bodyPr>
          <a:lstStyle/>
          <a:p>
            <a:pPr algn="l">
              <a:spcAft>
                <a:spcPts val="600"/>
              </a:spcAft>
            </a:pPr>
            <a:r>
              <a:rPr sz="1200" b="0" i="1">
                <a:solidFill>
                  <a:srgbClr val="5A6A7A"/>
                </a:solidFill>
                <a:latin typeface="Calibri"/>
              </a:rPr>
              <a:t>Résumé exécutif, score de priorité par préfecture et 5 recommandations stratégiques d'extension de la connectivité.</a:t>
            </a:r>
          </a:p>
        </p:txBody>
      </p:sp>
      <p:sp>
        <p:nvSpPr>
          <p:cNvPr id="7" name="Rectangle 6"/>
          <p:cNvSpPr/>
          <p:nvPr/>
        </p:nvSpPr>
        <p:spPr>
          <a:xfrm>
            <a:off x="502920" y="6473952"/>
            <a:ext cx="11183112" cy="12801"/>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6528816"/>
            <a:ext cx="8229600" cy="274320"/>
          </a:xfrm>
          <a:prstGeom prst="rect">
            <a:avLst/>
          </a:prstGeom>
          <a:noFill/>
        </p:spPr>
        <p:txBody>
          <a:bodyPr wrap="square">
            <a:spAutoFit/>
          </a:bodyPr>
          <a:lstStyle/>
          <a:p>
            <a:pPr algn="l">
              <a:spcAft>
                <a:spcPts val="600"/>
              </a:spcAft>
            </a:pPr>
            <a:r>
              <a:rPr sz="900" b="0" i="0">
                <a:solidFill>
                  <a:srgbClr val="5A6A7A"/>
                </a:solidFill>
                <a:latin typeface="Calibri"/>
              </a:rPr>
              <a:t>Togo Télécoms &amp; Inclusion Numérique — Diagnostic et recommandations</a:t>
            </a:r>
          </a:p>
        </p:txBody>
      </p:sp>
      <p:sp>
        <p:nvSpPr>
          <p:cNvPr id="9" name="TextBox 8"/>
          <p:cNvSpPr txBox="1"/>
          <p:nvPr/>
        </p:nvSpPr>
        <p:spPr>
          <a:xfrm>
            <a:off x="11155680" y="6528816"/>
            <a:ext cx="548640" cy="274320"/>
          </a:xfrm>
          <a:prstGeom prst="rect">
            <a:avLst/>
          </a:prstGeom>
          <a:noFill/>
        </p:spPr>
        <p:txBody>
          <a:bodyPr wrap="square">
            <a:spAutoFit/>
          </a:bodyPr>
          <a:lstStyle/>
          <a:p>
            <a:pPr algn="r">
              <a:spcAft>
                <a:spcPts val="600"/>
              </a:spcAft>
            </a:pPr>
            <a:r>
              <a:rPr sz="1000" b="0" i="0">
                <a:solidFill>
                  <a:srgbClr val="5A6A7A"/>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57200"/>
            <a:ext cx="128016" cy="502920"/>
          </a:xfrm>
          <a:prstGeom prst="rect">
            <a:avLst/>
          </a:prstGeom>
          <a:solidFill>
            <a:srgbClr val="007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57200"/>
            <a:ext cx="10972800" cy="640080"/>
          </a:xfrm>
          <a:prstGeom prst="rect">
            <a:avLst/>
          </a:prstGeom>
          <a:noFill/>
        </p:spPr>
        <p:txBody>
          <a:bodyPr wrap="square">
            <a:spAutoFit/>
          </a:bodyPr>
          <a:lstStyle/>
          <a:p>
            <a:pPr algn="l">
              <a:spcAft>
                <a:spcPts val="600"/>
              </a:spcAft>
            </a:pPr>
            <a:r>
              <a:rPr sz="2800" b="1" i="0">
                <a:solidFill>
                  <a:srgbClr val="1A1A2E"/>
                </a:solidFill>
                <a:latin typeface="Calibri"/>
              </a:rPr>
              <a:t>Synthèse et prochaines étapes</a:t>
            </a:r>
          </a:p>
        </p:txBody>
      </p:sp>
      <p:sp>
        <p:nvSpPr>
          <p:cNvPr id="4" name="Rounded Rectangle 3"/>
          <p:cNvSpPr/>
          <p:nvPr/>
        </p:nvSpPr>
        <p:spPr>
          <a:xfrm>
            <a:off x="640080" y="1371600"/>
            <a:ext cx="3566160" cy="1554480"/>
          </a:xfrm>
          <a:prstGeom prst="round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27632"/>
            <a:ext cx="3566160" cy="548640"/>
          </a:xfrm>
          <a:prstGeom prst="rect">
            <a:avLst/>
          </a:prstGeom>
          <a:noFill/>
        </p:spPr>
        <p:txBody>
          <a:bodyPr wrap="square">
            <a:spAutoFit/>
          </a:bodyPr>
          <a:lstStyle/>
          <a:p>
            <a:pPr algn="ctr">
              <a:spcAft>
                <a:spcPts val="600"/>
              </a:spcAft>
            </a:pPr>
            <a:r>
              <a:rPr sz="3000" b="1" i="0">
                <a:solidFill>
                  <a:srgbClr val="FFFFFF"/>
                </a:solidFill>
                <a:latin typeface="Calibri"/>
              </a:rPr>
              <a:t>327 / 373</a:t>
            </a:r>
          </a:p>
        </p:txBody>
      </p:sp>
      <p:sp>
        <p:nvSpPr>
          <p:cNvPr id="6" name="TextBox 5"/>
          <p:cNvSpPr txBox="1"/>
          <p:nvPr/>
        </p:nvSpPr>
        <p:spPr>
          <a:xfrm>
            <a:off x="868680" y="2148840"/>
            <a:ext cx="3108960" cy="640080"/>
          </a:xfrm>
          <a:prstGeom prst="rect">
            <a:avLst/>
          </a:prstGeom>
          <a:noFill/>
        </p:spPr>
        <p:txBody>
          <a:bodyPr wrap="square">
            <a:spAutoFit/>
          </a:bodyPr>
          <a:lstStyle/>
          <a:p>
            <a:pPr algn="ctr">
              <a:spcAft>
                <a:spcPts val="600"/>
              </a:spcAft>
            </a:pPr>
            <a:r>
              <a:rPr sz="1050" b="0" i="0">
                <a:solidFill>
                  <a:srgbClr val="FFFFFF"/>
                </a:solidFill>
                <a:latin typeface="Calibri"/>
              </a:rPr>
              <a:t>cantons sans aucune agence opérateur (88 %)</a:t>
            </a:r>
          </a:p>
        </p:txBody>
      </p:sp>
      <p:sp>
        <p:nvSpPr>
          <p:cNvPr id="7" name="Rounded Rectangle 6"/>
          <p:cNvSpPr/>
          <p:nvPr/>
        </p:nvSpPr>
        <p:spPr>
          <a:xfrm>
            <a:off x="4343400" y="1371600"/>
            <a:ext cx="3566160" cy="1554480"/>
          </a:xfrm>
          <a:prstGeom prst="roundRect">
            <a:avLst/>
          </a:prstGeom>
          <a:solidFill>
            <a:srgbClr val="D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43400" y="1627632"/>
            <a:ext cx="3566160" cy="548640"/>
          </a:xfrm>
          <a:prstGeom prst="rect">
            <a:avLst/>
          </a:prstGeom>
          <a:noFill/>
        </p:spPr>
        <p:txBody>
          <a:bodyPr wrap="square">
            <a:spAutoFit/>
          </a:bodyPr>
          <a:lstStyle/>
          <a:p>
            <a:pPr algn="ctr">
              <a:spcAft>
                <a:spcPts val="600"/>
              </a:spcAft>
            </a:pPr>
            <a:r>
              <a:rPr sz="3000" b="1" i="0">
                <a:solidFill>
                  <a:srgbClr val="FFFFFF"/>
                </a:solidFill>
                <a:latin typeface="Calibri"/>
              </a:rPr>
              <a:t>98</a:t>
            </a:r>
          </a:p>
        </p:txBody>
      </p:sp>
      <p:sp>
        <p:nvSpPr>
          <p:cNvPr id="9" name="TextBox 8"/>
          <p:cNvSpPr txBox="1"/>
          <p:nvPr/>
        </p:nvSpPr>
        <p:spPr>
          <a:xfrm>
            <a:off x="4572000" y="2148840"/>
            <a:ext cx="3108960" cy="640080"/>
          </a:xfrm>
          <a:prstGeom prst="rect">
            <a:avLst/>
          </a:prstGeom>
          <a:noFill/>
        </p:spPr>
        <p:txBody>
          <a:bodyPr wrap="square">
            <a:spAutoFit/>
          </a:bodyPr>
          <a:lstStyle/>
          <a:p>
            <a:pPr algn="ctr">
              <a:spcAft>
                <a:spcPts val="600"/>
              </a:spcAft>
            </a:pPr>
            <a:r>
              <a:rPr sz="1050" b="0" i="0">
                <a:solidFill>
                  <a:srgbClr val="FFFFFF"/>
                </a:solidFill>
                <a:latin typeface="Calibri"/>
              </a:rPr>
              <a:t>cantons classés « zone prioritaire » (sans agence + peu d'agents mobile money)</a:t>
            </a:r>
          </a:p>
        </p:txBody>
      </p:sp>
      <p:sp>
        <p:nvSpPr>
          <p:cNvPr id="10" name="Rounded Rectangle 9"/>
          <p:cNvSpPr/>
          <p:nvPr/>
        </p:nvSpPr>
        <p:spPr>
          <a:xfrm>
            <a:off x="8046720" y="1371600"/>
            <a:ext cx="3566160" cy="1554480"/>
          </a:xfrm>
          <a:prstGeom prst="roundRect">
            <a:avLst/>
          </a:prstGeom>
          <a:solidFill>
            <a:srgbClr val="007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0" y="1627632"/>
            <a:ext cx="3566160" cy="548640"/>
          </a:xfrm>
          <a:prstGeom prst="rect">
            <a:avLst/>
          </a:prstGeom>
          <a:noFill/>
        </p:spPr>
        <p:txBody>
          <a:bodyPr wrap="square">
            <a:spAutoFit/>
          </a:bodyPr>
          <a:lstStyle/>
          <a:p>
            <a:pPr algn="ctr">
              <a:spcAft>
                <a:spcPts val="600"/>
              </a:spcAft>
            </a:pPr>
            <a:r>
              <a:rPr sz="3000" b="1" i="0">
                <a:solidFill>
                  <a:srgbClr val="FFFFFF"/>
                </a:solidFill>
                <a:latin typeface="Calibri"/>
              </a:rPr>
              <a:t>12 / 39</a:t>
            </a:r>
          </a:p>
        </p:txBody>
      </p:sp>
      <p:sp>
        <p:nvSpPr>
          <p:cNvPr id="12" name="TextBox 11"/>
          <p:cNvSpPr txBox="1"/>
          <p:nvPr/>
        </p:nvSpPr>
        <p:spPr>
          <a:xfrm>
            <a:off x="8275320" y="2148840"/>
            <a:ext cx="3108960" cy="640080"/>
          </a:xfrm>
          <a:prstGeom prst="rect">
            <a:avLst/>
          </a:prstGeom>
          <a:noFill/>
        </p:spPr>
        <p:txBody>
          <a:bodyPr wrap="square">
            <a:spAutoFit/>
          </a:bodyPr>
          <a:lstStyle/>
          <a:p>
            <a:pPr algn="ctr">
              <a:spcAft>
                <a:spcPts val="600"/>
              </a:spcAft>
            </a:pPr>
            <a:r>
              <a:rPr sz="1050" b="0" i="0">
                <a:solidFill>
                  <a:srgbClr val="FFFFFF"/>
                </a:solidFill>
                <a:latin typeface="Calibri"/>
              </a:rPr>
              <a:t>préfectures ne disposant d'aucune agence physique</a:t>
            </a:r>
          </a:p>
        </p:txBody>
      </p:sp>
      <p:sp>
        <p:nvSpPr>
          <p:cNvPr id="13" name="TextBox 12"/>
          <p:cNvSpPr txBox="1"/>
          <p:nvPr/>
        </p:nvSpPr>
        <p:spPr>
          <a:xfrm>
            <a:off x="640080" y="3246120"/>
            <a:ext cx="10972800" cy="274320"/>
          </a:xfrm>
          <a:prstGeom prst="rect">
            <a:avLst/>
          </a:prstGeom>
          <a:noFill/>
        </p:spPr>
        <p:txBody>
          <a:bodyPr wrap="square">
            <a:spAutoFit/>
          </a:bodyPr>
          <a:lstStyle/>
          <a:p>
            <a:pPr algn="l">
              <a:spcAft>
                <a:spcPts val="600"/>
              </a:spcAft>
            </a:pPr>
            <a:r>
              <a:rPr sz="1500" b="1" i="0">
                <a:solidFill>
                  <a:srgbClr val="0072BC"/>
                </a:solidFill>
                <a:latin typeface="Calibri"/>
              </a:rPr>
              <a:t>Priorités d'action</a:t>
            </a:r>
          </a:p>
        </p:txBody>
      </p:sp>
      <p:sp>
        <p:nvSpPr>
          <p:cNvPr id="14" name="TextBox 13"/>
          <p:cNvSpPr txBox="1"/>
          <p:nvPr/>
        </p:nvSpPr>
        <p:spPr>
          <a:xfrm>
            <a:off x="640080" y="3520440"/>
            <a:ext cx="10698480" cy="777240"/>
          </a:xfrm>
          <a:prstGeom prst="rect">
            <a:avLst/>
          </a:prstGeom>
          <a:noFill/>
        </p:spPr>
        <p:txBody>
          <a:bodyPr wrap="square">
            <a:spAutoFit/>
          </a:bodyPr>
          <a:lstStyle/>
          <a:p>
            <a:pPr algn="l">
              <a:spcAft>
                <a:spcPts val="600"/>
              </a:spcAft>
            </a:pPr>
            <a:r>
              <a:rPr sz="1250" b="0" i="0">
                <a:solidFill>
                  <a:srgbClr val="1A1A2E"/>
                </a:solidFill>
                <a:latin typeface="Calibri"/>
              </a:rPr>
              <a:t>Implanter des agences dans les préfectures à fort score, structurer le réseau d'agents mobile money là où il est le seul point de contact, cibler en premier les 98 cantons prioritaires, décentraliser les capacités data hors de Lomé.</a:t>
            </a:r>
          </a:p>
        </p:txBody>
      </p:sp>
      <p:sp>
        <p:nvSpPr>
          <p:cNvPr id="15" name="TextBox 14"/>
          <p:cNvSpPr txBox="1"/>
          <p:nvPr/>
        </p:nvSpPr>
        <p:spPr>
          <a:xfrm>
            <a:off x="640080" y="4297680"/>
            <a:ext cx="10972800" cy="274320"/>
          </a:xfrm>
          <a:prstGeom prst="rect">
            <a:avLst/>
          </a:prstGeom>
          <a:noFill/>
        </p:spPr>
        <p:txBody>
          <a:bodyPr wrap="square">
            <a:spAutoFit/>
          </a:bodyPr>
          <a:lstStyle/>
          <a:p>
            <a:pPr algn="l">
              <a:spcAft>
                <a:spcPts val="600"/>
              </a:spcAft>
            </a:pPr>
            <a:r>
              <a:rPr sz="1500" b="1" i="0">
                <a:solidFill>
                  <a:srgbClr val="0072BC"/>
                </a:solidFill>
                <a:latin typeface="Calibri"/>
              </a:rPr>
              <a:t>Angles morts de mesure</a:t>
            </a:r>
          </a:p>
        </p:txBody>
      </p:sp>
      <p:sp>
        <p:nvSpPr>
          <p:cNvPr id="16" name="TextBox 15"/>
          <p:cNvSpPr txBox="1"/>
          <p:nvPr/>
        </p:nvSpPr>
        <p:spPr>
          <a:xfrm>
            <a:off x="640080" y="4572000"/>
            <a:ext cx="10698480" cy="777240"/>
          </a:xfrm>
          <a:prstGeom prst="rect">
            <a:avLst/>
          </a:prstGeom>
          <a:noFill/>
        </p:spPr>
        <p:txBody>
          <a:bodyPr wrap="square">
            <a:spAutoFit/>
          </a:bodyPr>
          <a:lstStyle/>
          <a:p>
            <a:pPr algn="l">
              <a:spcAft>
                <a:spcPts val="600"/>
              </a:spcAft>
            </a:pPr>
            <a:r>
              <a:rPr sz="1250" b="0" i="0">
                <a:solidFill>
                  <a:srgbClr val="1A1A2E"/>
                </a:solidFill>
                <a:latin typeface="Calibri"/>
              </a:rPr>
              <a:t>Aucune couverture réseau mobile officielle en open data et fichier CANAL+ vide : ces données doivent être collectées avant la prochaine itération du diagnostic.</a:t>
            </a:r>
          </a:p>
        </p:txBody>
      </p:sp>
      <p:sp>
        <p:nvSpPr>
          <p:cNvPr id="17" name="TextBox 16"/>
          <p:cNvSpPr txBox="1"/>
          <p:nvPr/>
        </p:nvSpPr>
        <p:spPr>
          <a:xfrm>
            <a:off x="640080" y="5349240"/>
            <a:ext cx="10972800" cy="274320"/>
          </a:xfrm>
          <a:prstGeom prst="rect">
            <a:avLst/>
          </a:prstGeom>
          <a:noFill/>
        </p:spPr>
        <p:txBody>
          <a:bodyPr wrap="square">
            <a:spAutoFit/>
          </a:bodyPr>
          <a:lstStyle/>
          <a:p>
            <a:pPr algn="l">
              <a:spcAft>
                <a:spcPts val="600"/>
              </a:spcAft>
            </a:pPr>
            <a:r>
              <a:rPr sz="1500" b="1" i="0">
                <a:solidFill>
                  <a:srgbClr val="0072BC"/>
                </a:solidFill>
                <a:latin typeface="Calibri"/>
              </a:rPr>
              <a:t>Améliorations possibles</a:t>
            </a:r>
          </a:p>
        </p:txBody>
      </p:sp>
      <p:sp>
        <p:nvSpPr>
          <p:cNvPr id="18" name="TextBox 17"/>
          <p:cNvSpPr txBox="1"/>
          <p:nvPr/>
        </p:nvSpPr>
        <p:spPr>
          <a:xfrm>
            <a:off x="640080" y="5623560"/>
            <a:ext cx="10698480" cy="777240"/>
          </a:xfrm>
          <a:prstGeom prst="rect">
            <a:avLst/>
          </a:prstGeom>
          <a:noFill/>
        </p:spPr>
        <p:txBody>
          <a:bodyPr wrap="square">
            <a:spAutoFit/>
          </a:bodyPr>
          <a:lstStyle/>
          <a:p>
            <a:pPr algn="l">
              <a:spcAft>
                <a:spcPts val="600"/>
              </a:spcAft>
            </a:pPr>
            <a:r>
              <a:rPr sz="1250" b="0" i="0">
                <a:solidFill>
                  <a:srgbClr val="1A1A2E"/>
                </a:solidFill>
                <a:latin typeface="Calibri"/>
              </a:rPr>
              <a:t>Population au niveau canton (Livret RGPH-5), couverture radio via OpenCelliD, geolocalisation précise par polygone des préfectures scindées.</a:t>
            </a:r>
          </a:p>
        </p:txBody>
      </p:sp>
      <p:sp>
        <p:nvSpPr>
          <p:cNvPr id="19" name="Rectangle 18"/>
          <p:cNvSpPr/>
          <p:nvPr/>
        </p:nvSpPr>
        <p:spPr>
          <a:xfrm>
            <a:off x="502920" y="6473952"/>
            <a:ext cx="11183112" cy="12801"/>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6528816"/>
            <a:ext cx="8229600" cy="274320"/>
          </a:xfrm>
          <a:prstGeom prst="rect">
            <a:avLst/>
          </a:prstGeom>
          <a:noFill/>
        </p:spPr>
        <p:txBody>
          <a:bodyPr wrap="square">
            <a:spAutoFit/>
          </a:bodyPr>
          <a:lstStyle/>
          <a:p>
            <a:pPr algn="l">
              <a:spcAft>
                <a:spcPts val="600"/>
              </a:spcAft>
            </a:pPr>
            <a:r>
              <a:rPr sz="900" b="0" i="0">
                <a:solidFill>
                  <a:srgbClr val="5A6A7A"/>
                </a:solidFill>
                <a:latin typeface="Calibri"/>
              </a:rPr>
              <a:t>Togo Télécoms &amp; Inclusion Numérique — Diagnostic et recommandations</a:t>
            </a:r>
          </a:p>
        </p:txBody>
      </p:sp>
      <p:sp>
        <p:nvSpPr>
          <p:cNvPr id="21" name="TextBox 20"/>
          <p:cNvSpPr txBox="1"/>
          <p:nvPr/>
        </p:nvSpPr>
        <p:spPr>
          <a:xfrm>
            <a:off x="11155680" y="6528816"/>
            <a:ext cx="548640" cy="274320"/>
          </a:xfrm>
          <a:prstGeom prst="rect">
            <a:avLst/>
          </a:prstGeom>
          <a:noFill/>
        </p:spPr>
        <p:txBody>
          <a:bodyPr wrap="square">
            <a:spAutoFit/>
          </a:bodyPr>
          <a:lstStyle/>
          <a:p>
            <a:pPr algn="r">
              <a:spcAft>
                <a:spcPts val="600"/>
              </a:spcAft>
            </a:pPr>
            <a:r>
              <a:rPr sz="1000" b="0" i="0">
                <a:solidFill>
                  <a:srgbClr val="5A6A7A"/>
                </a:solidFill>
                <a:latin typeface="Calibri"/>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579</Words>
  <Application>Microsoft Office PowerPoint</Application>
  <PresentationFormat>Grand écran</PresentationFormat>
  <Paragraphs>54</Paragraphs>
  <Slides>8</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8</vt:i4>
      </vt:variant>
    </vt:vector>
  </HeadingPairs>
  <TitlesOfParts>
    <vt:vector size="11"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Yannick Madjiadoum</cp:lastModifiedBy>
  <cp:revision>3</cp:revision>
  <dcterms:created xsi:type="dcterms:W3CDTF">2013-01-27T09:14:16Z</dcterms:created>
  <dcterms:modified xsi:type="dcterms:W3CDTF">2026-09-10T19:51:06Z</dcterms:modified>
  <cp:category/>
</cp:coreProperties>
</file>